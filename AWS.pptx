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1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262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aws-certification/latest/solutions-architect-associate-03/solutions-architect-associate-03.html" TargetMode="External"/><Relationship Id="rId7" Type="http://schemas.openxmlformats.org/officeDocument/2006/relationships/hyperlink" Target="https://docs.aws.amazon.com/aws-certification/latest/solutions-architect-associate-03/solutions-architect-associate-03-domain4.html" TargetMode="External"/><Relationship Id="rId2" Type="http://schemas.openxmlformats.org/officeDocument/2006/relationships/hyperlink" Target="https://d1.awsstatic.com/onedam/marketing-channels/website/aws/en_US/training/approved/pdfs/ramp-up-guides/Ramp-Up_Guide_Architect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aws.amazon.com/aws-certification/latest/solutions-architect-associate-03/solutions-architect-associate-03-domain3.html" TargetMode="External"/><Relationship Id="rId5" Type="http://schemas.openxmlformats.org/officeDocument/2006/relationships/hyperlink" Target="https://docs.aws.amazon.com/aws-certification/latest/solutions-architect-associate-03/solutions-architect-associate-03-domain2.html" TargetMode="External"/><Relationship Id="rId4" Type="http://schemas.openxmlformats.org/officeDocument/2006/relationships/hyperlink" Target="https://docs.aws.amazon.com/aws-certification/latest/solutions-architect-associate-03/solutions-architect-associate-03-domain1.htm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ws.amazon.com/about-aws/global-infrastructure/regional-product-services/?p=ngi&amp;loc=4&amp;refid=65b90da3-fee6-483c-97a7-4a920c6c64d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://github.com/aws/aws-cli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://[ipv4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Solutions Architect – Associate (SAA-CO3)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2356-009E-B671-396C-A5A47048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&amp; Exam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EFB58-5DAE-C3C2-2D49-7AE40E759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75647"/>
            <a:ext cx="11029615" cy="4195482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hlinkClick r:id="rId2"/>
              </a:rPr>
              <a:t>Ramp-up guide</a:t>
            </a:r>
            <a:endParaRPr lang="en-US" dirty="0"/>
          </a:p>
          <a:p>
            <a:r>
              <a:rPr lang="en-US" dirty="0" err="1"/>
              <a:t>Skillbuilder.aws</a:t>
            </a:r>
            <a:endParaRPr lang="en-US" dirty="0"/>
          </a:p>
          <a:p>
            <a:r>
              <a:rPr lang="en-US" dirty="0">
                <a:hlinkClick r:id="rId3"/>
              </a:rPr>
              <a:t>SAA-CO3 docs</a:t>
            </a:r>
            <a:endParaRPr lang="en-US" dirty="0"/>
          </a:p>
          <a:p>
            <a:endParaRPr lang="en-US" dirty="0"/>
          </a:p>
          <a:p>
            <a:r>
              <a:rPr lang="en-US" dirty="0"/>
              <a:t>Mix of multiple choice + multiple response</a:t>
            </a:r>
          </a:p>
          <a:p>
            <a:r>
              <a:rPr lang="en-US" dirty="0"/>
              <a:t>65 questions (15 do not count towards score)</a:t>
            </a:r>
          </a:p>
          <a:p>
            <a:r>
              <a:rPr lang="en-US" dirty="0"/>
              <a:t>$150 (each attempt, unlimited retakes with 14-day waiting period)</a:t>
            </a:r>
          </a:p>
          <a:p>
            <a:r>
              <a:rPr lang="en-US" dirty="0"/>
              <a:t>720 out of 1000 is passing</a:t>
            </a:r>
          </a:p>
          <a:p>
            <a:r>
              <a:rPr lang="en-US" dirty="0"/>
              <a:t>The exam has the following content domains and weightings:</a:t>
            </a:r>
          </a:p>
          <a:p>
            <a:r>
              <a:rPr lang="en-US" dirty="0">
                <a:hlinkClick r:id="rId4"/>
              </a:rPr>
              <a:t>Content Domain 1: Design Secure Architectures (30% of scored content)</a:t>
            </a:r>
            <a:endParaRPr lang="en-US" dirty="0"/>
          </a:p>
          <a:p>
            <a:r>
              <a:rPr lang="en-US" dirty="0">
                <a:hlinkClick r:id="rId5"/>
              </a:rPr>
              <a:t>Content Domain 2: Design Resilient Architectures (26% of scored content)</a:t>
            </a:r>
            <a:endParaRPr lang="en-US" dirty="0"/>
          </a:p>
          <a:p>
            <a:r>
              <a:rPr lang="en-US" dirty="0">
                <a:hlinkClick r:id="rId6"/>
              </a:rPr>
              <a:t>Content Domain 3: Design High-Performing Architectures (24% of scored content)</a:t>
            </a:r>
            <a:endParaRPr lang="en-US" dirty="0"/>
          </a:p>
          <a:p>
            <a:r>
              <a:rPr lang="en-US" dirty="0">
                <a:hlinkClick r:id="rId7"/>
              </a:rPr>
              <a:t>Content Domain 4: Design Cost-Optimized Architectures (20% of scored content)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370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C298-696A-AFC6-3B31-4AA0A9F95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1 – Design Secure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E145A-FA38-D3C2-017C-AF397CE07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118" y="1989782"/>
            <a:ext cx="11029615" cy="481404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Design secure access to AWS resources:</a:t>
            </a:r>
          </a:p>
          <a:p>
            <a:pPr lvl="1"/>
            <a:r>
              <a:rPr lang="en-US" dirty="0"/>
              <a:t>Access Controls and management across multiple accounts</a:t>
            </a:r>
          </a:p>
          <a:p>
            <a:pPr lvl="1"/>
            <a:r>
              <a:rPr lang="en-US" dirty="0"/>
              <a:t>AWS federated access and identity services (IAM,  AWS IAM Identity Center)</a:t>
            </a:r>
          </a:p>
          <a:p>
            <a:pPr lvl="1"/>
            <a:r>
              <a:rPr lang="en-US" dirty="0"/>
              <a:t>AWS global infrastructure (availability zones, AWS regions)</a:t>
            </a:r>
          </a:p>
          <a:p>
            <a:pPr lvl="1"/>
            <a:r>
              <a:rPr lang="en-US" dirty="0"/>
              <a:t>AWS security best practices (ex least privilege)</a:t>
            </a:r>
          </a:p>
          <a:p>
            <a:pPr lvl="1"/>
            <a:r>
              <a:rPr lang="en-US" dirty="0"/>
              <a:t>AWS shared responsibility model</a:t>
            </a:r>
          </a:p>
          <a:p>
            <a:r>
              <a:rPr lang="en-US" dirty="0"/>
              <a:t>Design secure workloads and applications</a:t>
            </a:r>
          </a:p>
          <a:p>
            <a:pPr lvl="1"/>
            <a:r>
              <a:rPr lang="en-US" dirty="0"/>
              <a:t>Application configuration and credential security</a:t>
            </a:r>
          </a:p>
          <a:p>
            <a:pPr lvl="1"/>
            <a:r>
              <a:rPr lang="en-US" dirty="0"/>
              <a:t>AWS service endpoints</a:t>
            </a:r>
          </a:p>
          <a:p>
            <a:pPr lvl="1"/>
            <a:r>
              <a:rPr lang="en-US" dirty="0"/>
              <a:t>Control ports, protocols, and network traffic on AWS</a:t>
            </a:r>
          </a:p>
          <a:p>
            <a:pPr lvl="1"/>
            <a:r>
              <a:rPr lang="en-US" dirty="0"/>
              <a:t>Secure application access</a:t>
            </a:r>
          </a:p>
          <a:p>
            <a:pPr lvl="1"/>
            <a:r>
              <a:rPr lang="en-US" dirty="0"/>
              <a:t>Security services with appropriate use cases (AWS </a:t>
            </a:r>
            <a:r>
              <a:rPr lang="en-US" dirty="0" err="1"/>
              <a:t>cognito</a:t>
            </a:r>
            <a:r>
              <a:rPr lang="en-US" dirty="0"/>
              <a:t>, AWS </a:t>
            </a:r>
            <a:r>
              <a:rPr lang="en-US" dirty="0" err="1"/>
              <a:t>GuardDuty</a:t>
            </a:r>
            <a:r>
              <a:rPr lang="en-US" dirty="0"/>
              <a:t>, AWS Macie)</a:t>
            </a:r>
          </a:p>
          <a:p>
            <a:pPr lvl="1"/>
            <a:r>
              <a:rPr lang="en-US" dirty="0"/>
              <a:t>Threat vectors external to AWS (DDoS, SQL injection)</a:t>
            </a:r>
          </a:p>
          <a:p>
            <a:r>
              <a:rPr lang="en-US" dirty="0"/>
              <a:t>Determine appropriate security controls</a:t>
            </a:r>
          </a:p>
          <a:p>
            <a:pPr lvl="1"/>
            <a:r>
              <a:rPr lang="en-US" dirty="0"/>
              <a:t>Data access and governance</a:t>
            </a:r>
          </a:p>
          <a:p>
            <a:pPr lvl="1"/>
            <a:r>
              <a:rPr lang="en-US" dirty="0"/>
              <a:t>Data recovery</a:t>
            </a:r>
          </a:p>
          <a:p>
            <a:pPr lvl="1"/>
            <a:r>
              <a:rPr lang="en-US" dirty="0"/>
              <a:t>Data retention and classification</a:t>
            </a:r>
          </a:p>
          <a:p>
            <a:pPr lvl="1"/>
            <a:r>
              <a:rPr lang="en-US" dirty="0"/>
              <a:t>Encryption and appropriate key management 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321D30-852B-D4AE-1C98-611102407D56}"/>
              </a:ext>
            </a:extLst>
          </p:cNvPr>
          <p:cNvSpPr txBox="1"/>
          <p:nvPr/>
        </p:nvSpPr>
        <p:spPr>
          <a:xfrm>
            <a:off x="6194611" y="1882206"/>
            <a:ext cx="577327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Applying AWS security best practices to IAM users and root users (for example, multi-factor authentication [MFA])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Designing a flexible authorization model that includes IAM users, groups, roles, and policies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Designing a role-based access control strategy (for example, AWS STS, role switching, cross-account access)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Designing a security strategy for multiple AWS accounts (for example, AWS Control Tower, service control policies [SCPs])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Determining the appropriate use of resource policies for AWS services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Determining when to federate a directory service with IAM roles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3AF22-BCD4-708F-EE74-1E8E28CD4143}"/>
              </a:ext>
            </a:extLst>
          </p:cNvPr>
          <p:cNvSpPr txBox="1"/>
          <p:nvPr/>
        </p:nvSpPr>
        <p:spPr>
          <a:xfrm>
            <a:off x="6598023" y="3781556"/>
            <a:ext cx="511884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Designing VPC architectures with security components (for example, security groups, route tables, network ACLs, NAT gateways)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Determining network segmentation strategies (for example, using public subnets and private subnets)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Integrating AWS services to secure applications (for example, AWS Shield, AWS WAF, IAM Identity Center, AWS Secrets Manager)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Securing external network connections to and from the AWS Cloud (for example, VPN, AWS Direct Connect)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D65B4-7B20-6CF4-5DC1-116584150B4B}"/>
              </a:ext>
            </a:extLst>
          </p:cNvPr>
          <p:cNvSpPr txBox="1"/>
          <p:nvPr/>
        </p:nvSpPr>
        <p:spPr>
          <a:xfrm>
            <a:off x="6276807" y="5405004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Aligning AWS technologies to meet compliance requirements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Encrypting data at rest (for example, AWS KMS)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Encrypting data in transit (for example, AWS Certificate Manager [ACM] using TLS)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Implementing access policies for encryption keys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Implementing data backups and replications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Implementing policies for data access, lifecycle, and protection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Rotating encryption keys and renewing certificates</a:t>
            </a:r>
          </a:p>
        </p:txBody>
      </p:sp>
    </p:spTree>
    <p:extLst>
      <p:ext uri="{BB962C8B-B14F-4D97-AF65-F5344CB8AC3E}">
        <p14:creationId xmlns:p14="http://schemas.microsoft.com/office/powerpoint/2010/main" val="184759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C5126-CB5F-744E-548C-92900DDB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2 – Design Resilient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DF6EB-48E6-E359-54BB-EF583D106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993" y="1864659"/>
            <a:ext cx="6395679" cy="489472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Design scalable and loosely coupled architectures</a:t>
            </a:r>
          </a:p>
          <a:p>
            <a:pPr lvl="1"/>
            <a:r>
              <a:rPr lang="en-US" dirty="0"/>
              <a:t>API creation and management (for example, Amazon API Gateway, REST API)</a:t>
            </a:r>
          </a:p>
          <a:p>
            <a:pPr lvl="1"/>
            <a:r>
              <a:rPr lang="en-US" dirty="0"/>
              <a:t>AWS managed services with appropriate use cases (for example, AWS Transfer Family, Amazon SQS, AWS Secrets Manager)</a:t>
            </a:r>
          </a:p>
          <a:p>
            <a:pPr lvl="1"/>
            <a:r>
              <a:rPr lang="en-US" dirty="0"/>
              <a:t>Caching strategies</a:t>
            </a:r>
          </a:p>
          <a:p>
            <a:pPr lvl="1"/>
            <a:r>
              <a:rPr lang="en-US" dirty="0"/>
              <a:t>Design principles for microservices (for example, stateless workloads compared with stateful workloads)</a:t>
            </a:r>
          </a:p>
          <a:p>
            <a:pPr lvl="1"/>
            <a:r>
              <a:rPr lang="en-US" dirty="0"/>
              <a:t>Event-driven architectures</a:t>
            </a:r>
          </a:p>
          <a:p>
            <a:pPr lvl="1"/>
            <a:r>
              <a:rPr lang="en-US" dirty="0"/>
              <a:t>Horizontal scaling and vertical scaling</a:t>
            </a:r>
          </a:p>
          <a:p>
            <a:pPr lvl="1"/>
            <a:r>
              <a:rPr lang="en-US" dirty="0"/>
              <a:t>How to appropriately use edge accelerators (for example, content delivery network [CDN])</a:t>
            </a:r>
          </a:p>
          <a:p>
            <a:pPr lvl="1"/>
            <a:r>
              <a:rPr lang="en-US" dirty="0"/>
              <a:t>How to migrate applications into containers</a:t>
            </a:r>
          </a:p>
          <a:p>
            <a:pPr lvl="1"/>
            <a:r>
              <a:rPr lang="en-US" dirty="0"/>
              <a:t>Load balancing concepts (for example, Application Load Balancer [ALB])</a:t>
            </a:r>
          </a:p>
          <a:p>
            <a:pPr lvl="1"/>
            <a:r>
              <a:rPr lang="en-US" dirty="0"/>
              <a:t>Multi-tier architectures</a:t>
            </a:r>
          </a:p>
          <a:p>
            <a:pPr lvl="1"/>
            <a:r>
              <a:rPr lang="en-US" dirty="0"/>
              <a:t>Queuing and messaging concepts (for example, publish/subscribe)</a:t>
            </a:r>
          </a:p>
          <a:p>
            <a:pPr lvl="1"/>
            <a:r>
              <a:rPr lang="en-US" dirty="0"/>
              <a:t>Serverless technologies and patterns (for example, AWS Fargate, AWS Lambda)</a:t>
            </a:r>
          </a:p>
          <a:p>
            <a:pPr lvl="1"/>
            <a:r>
              <a:rPr lang="en-US" dirty="0"/>
              <a:t>Storage types with associated characteristics (for example, object, file, block)</a:t>
            </a:r>
          </a:p>
          <a:p>
            <a:pPr lvl="1"/>
            <a:r>
              <a:rPr lang="en-US" dirty="0"/>
              <a:t>The orchestration of containers (for example, Amazon ECS, Amazon EKS)</a:t>
            </a:r>
          </a:p>
          <a:p>
            <a:pPr lvl="1"/>
            <a:r>
              <a:rPr lang="en-US" dirty="0"/>
              <a:t>When to use read replicas</a:t>
            </a:r>
          </a:p>
          <a:p>
            <a:pPr lvl="1"/>
            <a:r>
              <a:rPr lang="en-US" dirty="0"/>
              <a:t>Workflow orchestration (for example, AWS Step Functions)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44B1E5-006A-FD3D-A216-4A8BD9B2E37D}"/>
              </a:ext>
            </a:extLst>
          </p:cNvPr>
          <p:cNvSpPr txBox="1"/>
          <p:nvPr/>
        </p:nvSpPr>
        <p:spPr>
          <a:xfrm>
            <a:off x="6096000" y="1864659"/>
            <a:ext cx="5972007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400" dirty="0"/>
              <a:t>Design highly available and/or fault-tolerant architectures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AWS global infrastructure (for example, Availability Zones, AWS Regions, Amazon Route 53)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AWS Managed Services (AMS) with appropriate use cases (for example, Amazon Comprehend, Amazon Polly)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Basic networking concepts (for example, route tables)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Disaster recovery (DR) strategies (for example, backup and restore, pilot light, warm standby, active-active failover, recovery point objective [RPO], recovery time objective [RTO])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Distributed design patterns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Failover strategies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Immutable infrastructure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Load balancing concepts (for example, ALB)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Proxy concepts (for example, Amazon RDS Proxy)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Service quotas and throttling (for example, how to configure the service quotas for a workload in a standby environment)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Storage options and characteristics (for example, durability, replication)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Workload visibility (for example, AWS X-Ray)</a:t>
            </a:r>
          </a:p>
        </p:txBody>
      </p:sp>
    </p:spTree>
    <p:extLst>
      <p:ext uri="{BB962C8B-B14F-4D97-AF65-F5344CB8AC3E}">
        <p14:creationId xmlns:p14="http://schemas.microsoft.com/office/powerpoint/2010/main" val="3666970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EE2CC-4731-F9B6-35CF-8AAAFD1DB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Cloud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77231-FBF0-4756-30C1-56D5BFCC3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AWS enables you to build sophisticated, scalable applications</a:t>
            </a:r>
          </a:p>
          <a:p>
            <a:r>
              <a:rPr lang="en-US" dirty="0"/>
              <a:t>Applicable to a diverse set of industries</a:t>
            </a:r>
          </a:p>
          <a:p>
            <a:r>
              <a:rPr lang="en-US" dirty="0"/>
              <a:t>Use cases include:</a:t>
            </a:r>
          </a:p>
          <a:p>
            <a:pPr lvl="1"/>
            <a:r>
              <a:rPr lang="en-US" dirty="0"/>
              <a:t>Enterprise IT, Backup &amp; Storage, Big Data Analytics</a:t>
            </a:r>
          </a:p>
          <a:p>
            <a:pPr lvl="1"/>
            <a:r>
              <a:rPr lang="en-US" dirty="0"/>
              <a:t>Website Hosting, Mobile &amp; Social Apps</a:t>
            </a:r>
          </a:p>
          <a:p>
            <a:pPr lvl="1"/>
            <a:r>
              <a:rPr lang="en-US" dirty="0"/>
              <a:t>Gaming/Game servers</a:t>
            </a:r>
          </a:p>
        </p:txBody>
      </p:sp>
    </p:spTree>
    <p:extLst>
      <p:ext uri="{BB962C8B-B14F-4D97-AF65-F5344CB8AC3E}">
        <p14:creationId xmlns:p14="http://schemas.microsoft.com/office/powerpoint/2010/main" val="1751322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8317B-A2C3-F90E-55F9-E13401259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Global 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1D1DF-4055-FFB5-4D9F-EC8CFE686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218" y="1918447"/>
            <a:ext cx="4881063" cy="480508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AWS Regions</a:t>
            </a:r>
          </a:p>
          <a:p>
            <a:pPr lvl="1"/>
            <a:r>
              <a:rPr lang="en-US" dirty="0"/>
              <a:t>us-east-1, eu-west-2,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A region is a cluster of data centers</a:t>
            </a:r>
          </a:p>
          <a:p>
            <a:pPr lvl="1"/>
            <a:r>
              <a:rPr lang="en-US" dirty="0"/>
              <a:t>Most services are region scoped</a:t>
            </a:r>
          </a:p>
          <a:p>
            <a:pPr lvl="1"/>
            <a:r>
              <a:rPr lang="en-US" dirty="0"/>
              <a:t>Choose based on compliance, latency, and available services</a:t>
            </a:r>
          </a:p>
          <a:p>
            <a:pPr lvl="1"/>
            <a:r>
              <a:rPr lang="en-US" dirty="0"/>
              <a:t>Pricing varies region to region</a:t>
            </a:r>
          </a:p>
          <a:p>
            <a:r>
              <a:rPr lang="en-US" dirty="0"/>
              <a:t>AWS Availability Zones</a:t>
            </a:r>
          </a:p>
          <a:p>
            <a:pPr lvl="1"/>
            <a:r>
              <a:rPr lang="en-US" dirty="0"/>
              <a:t>One or more discrete data centers with redundant power, networking, and connectivity </a:t>
            </a:r>
          </a:p>
          <a:p>
            <a:pPr lvl="1"/>
            <a:r>
              <a:rPr lang="en-US" dirty="0"/>
              <a:t>Each region has 3 or more zones. E.g. us-east-2a, us-east-2b, etc. </a:t>
            </a:r>
          </a:p>
          <a:p>
            <a:r>
              <a:rPr lang="en-US" dirty="0"/>
              <a:t>AWS Data Centers</a:t>
            </a:r>
          </a:p>
          <a:p>
            <a:r>
              <a:rPr lang="en-US" dirty="0"/>
              <a:t>AWS Edge Locations / Points of Presence</a:t>
            </a:r>
          </a:p>
          <a:p>
            <a:pPr lvl="1"/>
            <a:r>
              <a:rPr lang="en-US" dirty="0"/>
              <a:t>Edge location: AWS managed </a:t>
            </a:r>
            <a:r>
              <a:rPr lang="en-US" dirty="0" err="1"/>
              <a:t>PoP</a:t>
            </a:r>
            <a:r>
              <a:rPr lang="en-US" dirty="0"/>
              <a:t> used for content delivery</a:t>
            </a:r>
          </a:p>
          <a:p>
            <a:pPr lvl="1"/>
            <a:r>
              <a:rPr lang="en-US" dirty="0" err="1"/>
              <a:t>PoP</a:t>
            </a:r>
            <a:r>
              <a:rPr lang="en-US" dirty="0"/>
              <a:t>: A physical networking site where providers connect its network to users</a:t>
            </a:r>
          </a:p>
          <a:p>
            <a:pPr lvl="1"/>
            <a:r>
              <a:rPr lang="en-US" dirty="0"/>
              <a:t>User &gt; ISP &gt; </a:t>
            </a:r>
            <a:r>
              <a:rPr lang="en-US" dirty="0" err="1"/>
              <a:t>PoP</a:t>
            </a:r>
            <a:r>
              <a:rPr lang="en-US" dirty="0"/>
              <a:t> &gt; AWS backbone (global network layer) &gt; AWS Region</a:t>
            </a:r>
          </a:p>
          <a:p>
            <a:endParaRPr lang="en-US" dirty="0"/>
          </a:p>
          <a:p>
            <a:r>
              <a:rPr lang="en-US" dirty="0"/>
              <a:t>https://infrastructure.aws/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F11B1F-3A1F-0B74-3220-8A8960C84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281" y="2386875"/>
            <a:ext cx="6548501" cy="340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030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5E10F-BFE7-0A1A-D0B3-E2AC56841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vs Region Scoped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6005F-1342-CAD1-83E7-B1CA5E3B1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811690" cy="4344995"/>
          </a:xfrm>
        </p:spPr>
        <p:txBody>
          <a:bodyPr>
            <a:normAutofit/>
          </a:bodyPr>
          <a:lstStyle/>
          <a:p>
            <a:r>
              <a:rPr lang="en-US" dirty="0"/>
              <a:t>Global Services:</a:t>
            </a:r>
          </a:p>
          <a:p>
            <a:pPr lvl="1"/>
            <a:r>
              <a:rPr lang="en-US" dirty="0"/>
              <a:t>Identity and Access Management (IAM)</a:t>
            </a:r>
          </a:p>
          <a:p>
            <a:pPr lvl="1"/>
            <a:r>
              <a:rPr lang="en-US" dirty="0"/>
              <a:t>Route 53 (DNS Service)</a:t>
            </a:r>
          </a:p>
          <a:p>
            <a:pPr lvl="1"/>
            <a:r>
              <a:rPr lang="en-US" dirty="0"/>
              <a:t>CloudFront (Content Delivery Network - CDN)</a:t>
            </a:r>
          </a:p>
          <a:p>
            <a:pPr lvl="1"/>
            <a:r>
              <a:rPr lang="en-US" dirty="0"/>
              <a:t>WAF (Web Application Firewall)</a:t>
            </a:r>
          </a:p>
          <a:p>
            <a:r>
              <a:rPr lang="en-US" dirty="0"/>
              <a:t>Most AWS services are region-scoped:</a:t>
            </a:r>
          </a:p>
          <a:p>
            <a:pPr lvl="1"/>
            <a:r>
              <a:rPr lang="en-US" dirty="0"/>
              <a:t>Amazon EC2 (Infrastructure as a service)</a:t>
            </a:r>
          </a:p>
          <a:p>
            <a:pPr lvl="1"/>
            <a:r>
              <a:rPr lang="en-US" dirty="0"/>
              <a:t>Elastic Beanstalk (Platform as a service)</a:t>
            </a:r>
          </a:p>
          <a:p>
            <a:pPr lvl="1"/>
            <a:r>
              <a:rPr lang="en-US" dirty="0"/>
              <a:t>Lambda (Function as a service)</a:t>
            </a:r>
          </a:p>
          <a:p>
            <a:pPr lvl="1"/>
            <a:r>
              <a:rPr lang="en-US" dirty="0" err="1"/>
              <a:t>Rekognition</a:t>
            </a:r>
            <a:r>
              <a:rPr lang="en-US" dirty="0"/>
              <a:t> (Software as a service)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893CCA-8F41-09E6-262F-86EAEA16239C}"/>
              </a:ext>
            </a:extLst>
          </p:cNvPr>
          <p:cNvSpPr txBox="1"/>
          <p:nvPr/>
        </p:nvSpPr>
        <p:spPr>
          <a:xfrm>
            <a:off x="4855628" y="6446251"/>
            <a:ext cx="2480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AWS Services by Region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BB2E0F-C6A3-9804-F0D5-FB750E5AD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116" y="2841812"/>
            <a:ext cx="6561637" cy="23002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D59700-2E2F-B511-6BE4-A422F22F7675}"/>
              </a:ext>
            </a:extLst>
          </p:cNvPr>
          <p:cNvSpPr txBox="1"/>
          <p:nvPr/>
        </p:nvSpPr>
        <p:spPr>
          <a:xfrm>
            <a:off x="10103223" y="2059620"/>
            <a:ext cx="16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Region Selector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291113B-8D14-09C7-E114-76CB9324E89F}"/>
              </a:ext>
            </a:extLst>
          </p:cNvPr>
          <p:cNvCxnSpPr>
            <a:cxnSpLocks/>
          </p:cNvCxnSpPr>
          <p:nvPr/>
        </p:nvCxnSpPr>
        <p:spPr>
          <a:xfrm>
            <a:off x="11098306" y="2385424"/>
            <a:ext cx="0" cy="45638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449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43119-B363-E8D7-AE0D-89DA6E59F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Users &amp;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4DA05-7355-596A-C789-F4EE2357B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2131528"/>
          </a:xfrm>
        </p:spPr>
        <p:txBody>
          <a:bodyPr/>
          <a:lstStyle/>
          <a:p>
            <a:r>
              <a:rPr lang="en-US" dirty="0"/>
              <a:t>IAM: Identity and access management (Global Service)</a:t>
            </a:r>
          </a:p>
          <a:p>
            <a:r>
              <a:rPr lang="en-US" dirty="0"/>
              <a:t>Root account created by default, shouldn’t be used or shared</a:t>
            </a:r>
          </a:p>
          <a:p>
            <a:r>
              <a:rPr lang="en-US" dirty="0"/>
              <a:t>Users are people within your organization, and can be grouped</a:t>
            </a:r>
          </a:p>
          <a:p>
            <a:r>
              <a:rPr lang="en-US" dirty="0"/>
              <a:t>Group only contain users, not other groups</a:t>
            </a:r>
          </a:p>
          <a:p>
            <a:r>
              <a:rPr lang="en-US" dirty="0"/>
              <a:t>Users don’t have to belong to a group, and users can belong to multiple groups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747792-190F-6BEE-C101-E2D4D6EC9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98" y="4312025"/>
            <a:ext cx="8430802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81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71CED-B38A-DB0A-D482-3A53C8F5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436A5-90A0-CA33-CC81-12B6E7014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819608" cy="3678303"/>
          </a:xfrm>
        </p:spPr>
        <p:txBody>
          <a:bodyPr/>
          <a:lstStyle/>
          <a:p>
            <a:r>
              <a:rPr lang="en-US" dirty="0"/>
              <a:t>Users or groups can be assigned JSON documents called policies</a:t>
            </a:r>
          </a:p>
          <a:p>
            <a:r>
              <a:rPr lang="en-US" dirty="0"/>
              <a:t>These policies define the permissions of the users</a:t>
            </a:r>
          </a:p>
          <a:p>
            <a:r>
              <a:rPr lang="en-US" dirty="0"/>
              <a:t>In AWS we should apply the least privilege principle: don’t give more permissions than a user needs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BB6C3-917C-A557-D717-D2A7E3B0A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748" y="1946679"/>
            <a:ext cx="4906060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33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6F43B-301C-63FD-0214-00C8E0703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Create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16B97-74AC-3BF5-1107-90C40293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6" cy="61465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Navigate to the IAM global service to create users and groups</a:t>
            </a:r>
          </a:p>
          <a:p>
            <a:r>
              <a:rPr lang="en-US" dirty="0"/>
              <a:t>We can also assign permissions to users and groups from here (best practice is to assign permissions to groups instead of users)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94A8E-28F8-8A28-0A54-B2B479651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779" y="3050116"/>
            <a:ext cx="7549241" cy="3428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2081B4-9A8B-FEC3-123D-4EB8C73E6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930" y="4471910"/>
            <a:ext cx="3277057" cy="4191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D488FD-E1C2-406A-206E-9E82CF8EFE91}"/>
              </a:ext>
            </a:extLst>
          </p:cNvPr>
          <p:cNvSpPr txBox="1"/>
          <p:nvPr/>
        </p:nvSpPr>
        <p:spPr>
          <a:xfrm>
            <a:off x="8677930" y="3657600"/>
            <a:ext cx="327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Scope auto-set to global since IAM is a global service:</a:t>
            </a:r>
          </a:p>
        </p:txBody>
      </p:sp>
    </p:spTree>
    <p:extLst>
      <p:ext uri="{BB962C8B-B14F-4D97-AF65-F5344CB8AC3E}">
        <p14:creationId xmlns:p14="http://schemas.microsoft.com/office/powerpoint/2010/main" val="2494425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12FE8-9DAE-D60A-E198-6D5907905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9F1FF-CE7A-5334-2D34-931971AB1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Create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BC313-A1DC-5C8B-C89A-3B674458A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805" y="1863554"/>
            <a:ext cx="5840390" cy="864041"/>
          </a:xfrm>
        </p:spPr>
        <p:txBody>
          <a:bodyPr>
            <a:normAutofit lnSpcReduction="10000"/>
          </a:bodyPr>
          <a:lstStyle/>
          <a:p>
            <a:r>
              <a:rPr lang="en-US" sz="1200" dirty="0"/>
              <a:t>Check the box so the user can get access to the console via GUI</a:t>
            </a:r>
          </a:p>
          <a:p>
            <a:r>
              <a:rPr lang="en-US" sz="1200" dirty="0"/>
              <a:t>We can create a new group and assign, or attach an already existing group to a user</a:t>
            </a:r>
          </a:p>
          <a:p>
            <a:r>
              <a:rPr lang="en-US" sz="1200" dirty="0"/>
              <a:t>We use the ‘</a:t>
            </a:r>
            <a:r>
              <a:rPr lang="en-US" sz="1200" dirty="0" err="1"/>
              <a:t>AdministratorAccess</a:t>
            </a:r>
            <a:r>
              <a:rPr lang="en-US" sz="1200" dirty="0"/>
              <a:t>’ permission to give users admin access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D27D74-25CD-3A1C-6E7E-50781811B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618" y="2727595"/>
            <a:ext cx="8118764" cy="1908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CA37C2-566E-AC92-179B-979B1113D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618" y="4369456"/>
            <a:ext cx="8118764" cy="22408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0E4D44-C173-FB21-4183-D2438CE2D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496" y="6610315"/>
            <a:ext cx="5249008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83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2B433-128F-EC85-5DFC-61178FF2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Account Alias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7E295-686D-BA76-C02F-471F01065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7388635" cy="3975348"/>
          </a:xfrm>
        </p:spPr>
        <p:txBody>
          <a:bodyPr/>
          <a:lstStyle/>
          <a:p>
            <a:r>
              <a:rPr lang="en-US" dirty="0"/>
              <a:t>On the IAM Dashboard we can create an account alias</a:t>
            </a:r>
          </a:p>
          <a:p>
            <a:r>
              <a:rPr lang="en-US" dirty="0"/>
              <a:t>This changes the sign in URL for users, making it more human-friendly and easier to remember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F184EC-5BD4-EA43-A23E-A956CADE3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803" y="3100889"/>
            <a:ext cx="3439005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02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6A5F-FB1E-A5A4-8F0C-8AC9A99F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Multi-Session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E21EA-D17C-972D-E297-8335C141A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3628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Click the user dropdown in the top-right and select ‘Turn on </a:t>
            </a:r>
            <a:r>
              <a:rPr lang="en-US" dirty="0" err="1"/>
              <a:t>mutli</a:t>
            </a:r>
            <a:r>
              <a:rPr lang="en-US" dirty="0"/>
              <a:t>-session support’</a:t>
            </a:r>
          </a:p>
          <a:p>
            <a:r>
              <a:rPr lang="en-US" dirty="0"/>
              <a:t>Click ‘Add session’ to login to another user account</a:t>
            </a:r>
          </a:p>
          <a:p>
            <a:r>
              <a:rPr lang="en-US" dirty="0"/>
              <a:t>You can now be signed in to multiple accounts within the same browser (without having to use incognito windows)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B5E38-CEB4-A71E-8CC8-677EF5916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105" y="4354592"/>
            <a:ext cx="2676899" cy="933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6095BB-64D1-8C5F-399B-97227D1CC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152" y="4354592"/>
            <a:ext cx="3248478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681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A84A9-8BC8-9129-CA2E-EBAD0C60C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Policies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1700B-A645-DACC-FE6B-A9EE0F813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248504"/>
          </a:xfrm>
        </p:spPr>
        <p:txBody>
          <a:bodyPr/>
          <a:lstStyle/>
          <a:p>
            <a:r>
              <a:rPr lang="en-US" dirty="0"/>
              <a:t>Policies may be intended for multiple users within groups</a:t>
            </a:r>
          </a:p>
          <a:p>
            <a:r>
              <a:rPr lang="en-US" dirty="0"/>
              <a:t>Policies may be inline for individual users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CFB6C1-4A1C-9FBB-A4F9-880A06D87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687" y="3584452"/>
            <a:ext cx="6606625" cy="296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66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E9DF2-11AC-22E1-35F5-59DD707FC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Policies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37B80-B88C-5353-B02D-4FA7FE9B6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8" cy="397534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Consists of:</a:t>
            </a:r>
          </a:p>
          <a:p>
            <a:pPr lvl="1"/>
            <a:r>
              <a:rPr lang="en-US" dirty="0"/>
              <a:t>Version: policy language version, usually ‘2012-10-17’</a:t>
            </a:r>
          </a:p>
          <a:p>
            <a:pPr lvl="1"/>
            <a:r>
              <a:rPr lang="en-US" dirty="0"/>
              <a:t>Id: an optional identifier for the policy</a:t>
            </a:r>
          </a:p>
          <a:p>
            <a:pPr lvl="1"/>
            <a:r>
              <a:rPr lang="en-US" dirty="0"/>
              <a:t>Statement: one or more individual statements</a:t>
            </a:r>
          </a:p>
          <a:p>
            <a:r>
              <a:rPr lang="en-US" dirty="0"/>
              <a:t>Statements consist of:</a:t>
            </a:r>
          </a:p>
          <a:p>
            <a:pPr lvl="1"/>
            <a:r>
              <a:rPr lang="en-US" dirty="0"/>
              <a:t>Sid: an optional identifier for the statement</a:t>
            </a:r>
          </a:p>
          <a:p>
            <a:pPr lvl="1"/>
            <a:r>
              <a:rPr lang="en-US" dirty="0"/>
              <a:t>Effect: whether the statement allows or denies access (Allow/Deny)</a:t>
            </a:r>
          </a:p>
          <a:p>
            <a:pPr lvl="1"/>
            <a:r>
              <a:rPr lang="en-US" dirty="0"/>
              <a:t>Principle: account/user/role to which the policy is applied to</a:t>
            </a:r>
          </a:p>
          <a:p>
            <a:pPr lvl="1"/>
            <a:r>
              <a:rPr lang="en-US" dirty="0"/>
              <a:t>Action: list of actions this policy allows or denies</a:t>
            </a:r>
          </a:p>
          <a:p>
            <a:pPr lvl="1"/>
            <a:r>
              <a:rPr lang="en-US" dirty="0"/>
              <a:t>Resource: list of resources to which the actions applied to</a:t>
            </a:r>
          </a:p>
          <a:p>
            <a:pPr lvl="1"/>
            <a:r>
              <a:rPr lang="en-US" dirty="0"/>
              <a:t>Condition: optional conditions for which the policy is in effect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DBFC97-0E39-7385-002F-190782631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452" y="2147723"/>
            <a:ext cx="4191585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62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13C4-6345-CCDF-CCA4-CC80274D5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Permission Policy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51CB2-D9EE-BF26-8C3A-5D59F4369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4660"/>
            <a:ext cx="11029615" cy="142925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Found at IAM &gt; Policies &gt; Click on a policy</a:t>
            </a:r>
          </a:p>
          <a:p>
            <a:r>
              <a:rPr lang="en-US" dirty="0"/>
              <a:t>View the summary or in JSON format</a:t>
            </a:r>
          </a:p>
          <a:p>
            <a:r>
              <a:rPr lang="en-US" dirty="0"/>
              <a:t>* = wildcard</a:t>
            </a:r>
          </a:p>
          <a:p>
            <a:pPr lvl="1"/>
            <a:r>
              <a:rPr lang="en-US" dirty="0" err="1"/>
              <a:t>Iam:Get</a:t>
            </a:r>
            <a:r>
              <a:rPr lang="en-US" dirty="0"/>
              <a:t>* = is equivalent to </a:t>
            </a:r>
            <a:r>
              <a:rPr lang="en-US" dirty="0" err="1"/>
              <a:t>GetUser</a:t>
            </a:r>
            <a:r>
              <a:rPr lang="en-US" dirty="0"/>
              <a:t>, </a:t>
            </a:r>
            <a:r>
              <a:rPr lang="en-US" dirty="0" err="1"/>
              <a:t>GetGroup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; in this case, it will allow all ‘Get’ permissions</a:t>
            </a:r>
          </a:p>
          <a:p>
            <a:r>
              <a:rPr lang="en-US" dirty="0"/>
              <a:t>List = view a collection; Get = view a single item; this pattern is common among many policies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215A69-F020-86A6-C7E9-DAAA9A6F8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962" y="3730335"/>
            <a:ext cx="3598921" cy="2498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7E6AC9-7BC1-A8B6-B7C4-395A933EE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9" y="3657599"/>
            <a:ext cx="8004464" cy="26647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98BAA8-3617-FF0E-463E-A50DB2063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962" y="3345415"/>
            <a:ext cx="1571844" cy="3334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737E31-7472-31D8-5CA1-8D6B543D25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99" y="3395844"/>
            <a:ext cx="1590897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7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3433-4453-3796-5A30-C01EFB26C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Create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16C85-E446-E3E5-D666-C886495D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0" y="2031254"/>
            <a:ext cx="11029615" cy="1013801"/>
          </a:xfrm>
        </p:spPr>
        <p:txBody>
          <a:bodyPr/>
          <a:lstStyle/>
          <a:p>
            <a:r>
              <a:rPr lang="en-US" dirty="0"/>
              <a:t>Navigate to ‘IAM &gt; Policies &gt; Create Policy’</a:t>
            </a:r>
          </a:p>
          <a:p>
            <a:r>
              <a:rPr lang="en-US" dirty="0"/>
              <a:t>Both visual and JSON editor available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7C4DB0-BD90-3522-B6FA-059BDB87D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26" y="3045055"/>
            <a:ext cx="11797145" cy="294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76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0826-FDAF-7602-49CA-682D832B5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Password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E54D7-B823-606A-6C15-16CE6783A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80755"/>
            <a:ext cx="11029615" cy="675409"/>
          </a:xfrm>
        </p:spPr>
        <p:txBody>
          <a:bodyPr/>
          <a:lstStyle/>
          <a:p>
            <a:r>
              <a:rPr lang="en-US" dirty="0"/>
              <a:t>IAM &gt; Account Settings &gt; Click ‘Edit’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97D68-EAF6-F5A3-07C4-E53DB99E0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665" y="2629285"/>
            <a:ext cx="8790668" cy="390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19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A1912-FA8F-6638-73CD-3A6347A10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MFA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F9D2D-8BFE-D967-5CB7-01A9D117A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133808" cy="3678303"/>
          </a:xfrm>
        </p:spPr>
        <p:txBody>
          <a:bodyPr/>
          <a:lstStyle/>
          <a:p>
            <a:r>
              <a:rPr lang="en-US" dirty="0"/>
              <a:t>Click account name in top-right</a:t>
            </a:r>
          </a:p>
          <a:p>
            <a:r>
              <a:rPr lang="en-US" dirty="0"/>
              <a:t>Click ‘Security credentials’</a:t>
            </a:r>
          </a:p>
          <a:p>
            <a:r>
              <a:rPr lang="en-US" dirty="0"/>
              <a:t>Click ‘Assign MFA’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AF3845-1653-FAF2-9CD4-103035A6E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710" y="2467426"/>
            <a:ext cx="2048161" cy="33913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209F1C-5B39-6C50-9FDB-5792CE67F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422" y="2057400"/>
            <a:ext cx="4291446" cy="419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166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9ABDD-7F9E-468A-E587-60676DE4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ways to access 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7AD6-0AB8-A5CE-2AA7-6D34A44A0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456" y="1972678"/>
            <a:ext cx="11029615" cy="3678303"/>
          </a:xfrm>
        </p:spPr>
        <p:txBody>
          <a:bodyPr/>
          <a:lstStyle/>
          <a:p>
            <a:r>
              <a:rPr lang="en-US" dirty="0"/>
              <a:t>AWS Management Console – protected by MFA + Password</a:t>
            </a:r>
          </a:p>
          <a:p>
            <a:r>
              <a:rPr lang="en-US" dirty="0"/>
              <a:t>AWS Command Line Interface (CLI) – protected by access keys</a:t>
            </a:r>
          </a:p>
          <a:p>
            <a:r>
              <a:rPr lang="en-US" dirty="0"/>
              <a:t>AWS Software Development Kit (SDK) – for code; protected by access keys</a:t>
            </a:r>
          </a:p>
          <a:p>
            <a:r>
              <a:rPr lang="en-US" dirty="0"/>
              <a:t>Access Keys are generated through the AWS Console</a:t>
            </a:r>
          </a:p>
          <a:p>
            <a:r>
              <a:rPr lang="en-US" dirty="0"/>
              <a:t>Users manage their own access keys</a:t>
            </a:r>
          </a:p>
          <a:p>
            <a:r>
              <a:rPr lang="en-US" dirty="0"/>
              <a:t>Access keys are secret, don’t share them!</a:t>
            </a:r>
          </a:p>
          <a:p>
            <a:pPr lvl="1"/>
            <a:r>
              <a:rPr lang="en-US" dirty="0"/>
              <a:t>Access Key ID ~= username</a:t>
            </a:r>
          </a:p>
          <a:p>
            <a:pPr lvl="1"/>
            <a:r>
              <a:rPr lang="en-US" dirty="0"/>
              <a:t>Secret Access Key ~= password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E3040D-B103-2692-8611-F433308EC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245" y="3894356"/>
            <a:ext cx="6349563" cy="249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35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4B08A-7071-7D63-B6A0-A8A814294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AWS CLI?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BC44-0FE6-CE1A-3DC3-1896568AC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727965"/>
            <a:ext cx="11029615" cy="3678303"/>
          </a:xfrm>
        </p:spPr>
        <p:txBody>
          <a:bodyPr/>
          <a:lstStyle/>
          <a:p>
            <a:r>
              <a:rPr lang="en-US" dirty="0"/>
              <a:t>A tool that enables you to interact with AWS services using commands in your command-line shell</a:t>
            </a:r>
          </a:p>
          <a:p>
            <a:r>
              <a:rPr lang="en-US" dirty="0"/>
              <a:t>Direct access to public APIs of AWS services</a:t>
            </a:r>
          </a:p>
          <a:p>
            <a:r>
              <a:rPr lang="en-US" dirty="0"/>
              <a:t>You can develop scripts to manage resources</a:t>
            </a:r>
          </a:p>
          <a:p>
            <a:r>
              <a:rPr lang="en-US" dirty="0"/>
              <a:t>It’s open source: </a:t>
            </a:r>
            <a:r>
              <a:rPr lang="en-US" dirty="0">
                <a:hlinkClick r:id="rId2"/>
              </a:rPr>
              <a:t>http://github.com/aws/aws-cli</a:t>
            </a:r>
            <a:endParaRPr lang="en-US" dirty="0"/>
          </a:p>
          <a:p>
            <a:r>
              <a:rPr lang="en-US" dirty="0"/>
              <a:t>Alternative to using AWS Management Console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04C7D-B5CA-BF63-70FC-1AD83CAE7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837" y="4738206"/>
            <a:ext cx="6268325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20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B786-C658-5C95-4380-6094AC23E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AWS SDK?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8AF8D-B0C2-1AAE-FC11-F1B1DE64F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Development Kit</a:t>
            </a:r>
          </a:p>
          <a:p>
            <a:r>
              <a:rPr lang="en-US" dirty="0"/>
              <a:t>Language-specific APIs (set of libraries)</a:t>
            </a:r>
          </a:p>
          <a:p>
            <a:r>
              <a:rPr lang="en-US" dirty="0"/>
              <a:t>Enables you to access and manage AWS services programmatically</a:t>
            </a:r>
          </a:p>
          <a:p>
            <a:r>
              <a:rPr lang="en-US" dirty="0"/>
              <a:t>Embedded within your application</a:t>
            </a:r>
          </a:p>
          <a:p>
            <a:r>
              <a:rPr lang="en-US" dirty="0"/>
              <a:t>Supports:</a:t>
            </a:r>
          </a:p>
          <a:p>
            <a:pPr lvl="1"/>
            <a:r>
              <a:rPr lang="en-US" dirty="0"/>
              <a:t>SKDs (JavaScript, Python, PHP, .NET, Ruby, Java, Go, Node.js, C++)</a:t>
            </a:r>
          </a:p>
          <a:p>
            <a:pPr lvl="1"/>
            <a:r>
              <a:rPr lang="en-US" dirty="0"/>
              <a:t>Mobile SDKs (Android, iOS)</a:t>
            </a:r>
          </a:p>
          <a:p>
            <a:pPr lvl="1"/>
            <a:r>
              <a:rPr lang="en-US" dirty="0"/>
              <a:t>IoT Device SDKs (Embedded C, Arduino, etc.)</a:t>
            </a:r>
          </a:p>
        </p:txBody>
      </p:sp>
    </p:spTree>
    <p:extLst>
      <p:ext uri="{BB962C8B-B14F-4D97-AF65-F5344CB8AC3E}">
        <p14:creationId xmlns:p14="http://schemas.microsoft.com/office/powerpoint/2010/main" val="2232345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1744B-46E1-CC87-0C84-4729B0CC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Access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70E89-59DC-A646-EF5A-6E6BFE951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344099" cy="4209913"/>
          </a:xfrm>
        </p:spPr>
        <p:txBody>
          <a:bodyPr/>
          <a:lstStyle/>
          <a:p>
            <a:r>
              <a:rPr lang="en-US" dirty="0"/>
              <a:t>Navigate to IAM &gt; Users &gt; (user) &gt; Create Access Key</a:t>
            </a:r>
          </a:p>
          <a:p>
            <a:r>
              <a:rPr lang="en-US" dirty="0"/>
              <a:t>Choose CLI</a:t>
            </a:r>
          </a:p>
          <a:p>
            <a:r>
              <a:rPr lang="en-US" dirty="0"/>
              <a:t>Copy details/download csv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E8C5ED-5BA3-1E73-AA91-01A77BED2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111" y="2060231"/>
            <a:ext cx="6649211" cy="375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97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E541C-46BC-190F-C55C-9667AE7A8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AWS CLI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9093096-6A8A-3CF4-773A-30DF8785FA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92" y="2873188"/>
            <a:ext cx="5353267" cy="17130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7AC5B6-A3DF-23E5-2EFB-1664AC22C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770" y="2755254"/>
            <a:ext cx="4759309" cy="22631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3A185C-5057-4E7F-0054-BC10C1172D10}"/>
              </a:ext>
            </a:extLst>
          </p:cNvPr>
          <p:cNvSpPr txBox="1"/>
          <p:nvPr/>
        </p:nvSpPr>
        <p:spPr>
          <a:xfrm>
            <a:off x="598727" y="1846284"/>
            <a:ext cx="10671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Run </a:t>
            </a:r>
            <a:r>
              <a:rPr lang="en-US" dirty="0" err="1"/>
              <a:t>aws</a:t>
            </a:r>
            <a:r>
              <a:rPr lang="en-US" dirty="0"/>
              <a:t> configure (output format may be left blank)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Now we can run commands, such as getting a list of our users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 err="1"/>
              <a:t>CloudShell</a:t>
            </a:r>
            <a:r>
              <a:rPr lang="en-US" dirty="0"/>
              <a:t> available for browser-based CLI access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F424C-5638-E8D2-ABB4-39763A057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098" y="5111510"/>
            <a:ext cx="9697803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166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DCCB-C4F1-752C-4DCF-826C6376E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E3063-D4DD-856E-EAC4-2AEBE19B3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AWS services will need to perform actions on our behalf</a:t>
            </a:r>
          </a:p>
          <a:p>
            <a:r>
              <a:rPr lang="en-US" dirty="0"/>
              <a:t>We assign permissions to AWS services with IAM Roles</a:t>
            </a:r>
          </a:p>
          <a:p>
            <a:r>
              <a:rPr lang="en-US" dirty="0"/>
              <a:t>Common roles:</a:t>
            </a:r>
          </a:p>
          <a:p>
            <a:pPr lvl="1"/>
            <a:r>
              <a:rPr lang="en-US" dirty="0"/>
              <a:t>EC2 instance roles</a:t>
            </a:r>
          </a:p>
          <a:p>
            <a:pPr lvl="1"/>
            <a:r>
              <a:rPr lang="en-US" dirty="0"/>
              <a:t>Lambda function roles</a:t>
            </a:r>
          </a:p>
          <a:p>
            <a:pPr lvl="1"/>
            <a:r>
              <a:rPr lang="en-US" dirty="0"/>
              <a:t>Roles for CloudFormation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24B8D-6267-2007-693D-ED311F745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445" y="1952433"/>
            <a:ext cx="3915321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66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6CB29-D332-B7FE-B99B-9D350E1DF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D4C2F-0171-65F5-3202-0567E4FA3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8769"/>
            <a:ext cx="11029615" cy="80342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IAM &gt; Roles &gt; Create Role</a:t>
            </a:r>
          </a:p>
          <a:p>
            <a:r>
              <a:rPr lang="en-US" dirty="0"/>
              <a:t>Add permissions, click next</a:t>
            </a:r>
          </a:p>
          <a:p>
            <a:r>
              <a:rPr lang="en-US" dirty="0"/>
              <a:t>Provide a name, verify details, click ‘create role’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7CC5E-39DF-ED06-8783-B050E7E58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46" y="2672195"/>
            <a:ext cx="7066517" cy="3836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F0620-BF9E-059B-5FCB-4D67A05C0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13" y="1868768"/>
            <a:ext cx="3008797" cy="21730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0C4C72-E6A7-BCB6-671C-2E9CFEE2B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510" y="4041788"/>
            <a:ext cx="2555601" cy="251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422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FE6F5-EC4F-21BB-4B33-51F4699AE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Security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46324-23B9-926D-09DF-A90318ADB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39935"/>
            <a:ext cx="11029615" cy="1179643"/>
          </a:xfrm>
        </p:spPr>
        <p:txBody>
          <a:bodyPr>
            <a:normAutofit/>
          </a:bodyPr>
          <a:lstStyle/>
          <a:p>
            <a:r>
              <a:rPr lang="en-US" dirty="0"/>
              <a:t>IAM Credential Report (account-level)</a:t>
            </a:r>
          </a:p>
          <a:p>
            <a:pPr lvl="1"/>
            <a:r>
              <a:rPr lang="en-US" dirty="0"/>
              <a:t>A report that lists all your account’s users and the status of their various credentials</a:t>
            </a:r>
          </a:p>
          <a:p>
            <a:pPr lvl="1"/>
            <a:r>
              <a:rPr lang="en-US" dirty="0"/>
              <a:t>IAM &gt; Credential Reports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353E01-D2D8-522A-6757-11B05B5E6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12" y="3743557"/>
            <a:ext cx="8254976" cy="13352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ED7798-F9E7-38C6-0ED9-BF0100B20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18" y="5352291"/>
            <a:ext cx="10870564" cy="54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981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25501-DB44-2E28-FC4E-A3980086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Security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0F6C4-1FC6-8C44-618F-2AE2C4789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62" y="1888263"/>
            <a:ext cx="4842455" cy="4363738"/>
          </a:xfrm>
        </p:spPr>
        <p:txBody>
          <a:bodyPr/>
          <a:lstStyle/>
          <a:p>
            <a:r>
              <a:rPr lang="en-US" dirty="0"/>
              <a:t>IAM Last Accessed (user-level)</a:t>
            </a:r>
          </a:p>
          <a:p>
            <a:pPr lvl="1"/>
            <a:r>
              <a:rPr lang="en-US" dirty="0"/>
              <a:t>Last Accessed shows the service permissions granted to a user and when those services were last accessed</a:t>
            </a:r>
          </a:p>
          <a:p>
            <a:pPr lvl="1"/>
            <a:r>
              <a:rPr lang="en-US" dirty="0"/>
              <a:t>You can use this information to revise your policies</a:t>
            </a:r>
          </a:p>
          <a:p>
            <a:pPr lvl="1"/>
            <a:r>
              <a:rPr lang="en-US" dirty="0"/>
              <a:t>(Formerly called Access Advisor)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FF2DA-81B8-038B-529E-DC7FD4D6C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071160"/>
            <a:ext cx="6173451" cy="399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35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B910-06FF-1A00-E824-FB521EBC9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Guidelines &amp;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B858F-EF11-2FE3-DC50-A7A04E241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use the root account except for AWS account setup</a:t>
            </a:r>
          </a:p>
          <a:p>
            <a:r>
              <a:rPr lang="en-US" dirty="0"/>
              <a:t>One physical user = One AWS user</a:t>
            </a:r>
          </a:p>
          <a:p>
            <a:r>
              <a:rPr lang="en-US" dirty="0"/>
              <a:t>Assign users to groups and assign permissions to groups</a:t>
            </a:r>
          </a:p>
          <a:p>
            <a:r>
              <a:rPr lang="en-US" dirty="0"/>
              <a:t>Create a strong password policy</a:t>
            </a:r>
          </a:p>
          <a:p>
            <a:r>
              <a:rPr lang="en-US" dirty="0"/>
              <a:t>Use and enforce the use of MFA</a:t>
            </a:r>
          </a:p>
          <a:p>
            <a:r>
              <a:rPr lang="en-US" dirty="0"/>
              <a:t>Create and use roles for giving permissions to AWS services</a:t>
            </a:r>
          </a:p>
          <a:p>
            <a:r>
              <a:rPr lang="en-US" dirty="0"/>
              <a:t>Use access keys for programmatic access (CLI/SDK)</a:t>
            </a:r>
          </a:p>
          <a:p>
            <a:r>
              <a:rPr lang="en-US" dirty="0"/>
              <a:t>Audit permissions of your account using IAM Credentials Report &amp; IAM Last Accessed</a:t>
            </a:r>
          </a:p>
          <a:p>
            <a:r>
              <a:rPr lang="en-US" dirty="0"/>
              <a:t>Never share IAM users &amp; access keys</a:t>
            </a:r>
          </a:p>
        </p:txBody>
      </p:sp>
    </p:spTree>
    <p:extLst>
      <p:ext uri="{BB962C8B-B14F-4D97-AF65-F5344CB8AC3E}">
        <p14:creationId xmlns:p14="http://schemas.microsoft.com/office/powerpoint/2010/main" val="4112115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D6CC6-0E99-4379-AC74-9CBDCB08E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95715-63A5-2C21-4CC2-2D6EB1DC4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Users: mapped to a physical user, has a password for AWS console</a:t>
            </a:r>
          </a:p>
          <a:p>
            <a:r>
              <a:rPr lang="en-US" dirty="0"/>
              <a:t>Groups: contains users only</a:t>
            </a:r>
          </a:p>
          <a:p>
            <a:r>
              <a:rPr lang="en-US" dirty="0"/>
              <a:t>Policies: JSON document that outlines permissions for users, groups, and roles</a:t>
            </a:r>
          </a:p>
          <a:p>
            <a:r>
              <a:rPr lang="en-US" dirty="0"/>
              <a:t>Roles: permissions for EC2 instances or other AWS services</a:t>
            </a:r>
          </a:p>
          <a:p>
            <a:r>
              <a:rPr lang="en-US" dirty="0"/>
              <a:t>Security: MFA, Password policies</a:t>
            </a:r>
          </a:p>
          <a:p>
            <a:r>
              <a:rPr lang="en-US" dirty="0"/>
              <a:t>AWS CLI: manage your AWS services via command line</a:t>
            </a:r>
          </a:p>
          <a:p>
            <a:r>
              <a:rPr lang="en-US" dirty="0"/>
              <a:t>AWS SDK: manage your AWS services via a programming language</a:t>
            </a:r>
          </a:p>
          <a:p>
            <a:r>
              <a:rPr lang="en-US" dirty="0"/>
              <a:t>Access Keys: access AWS using the CLI or SDK</a:t>
            </a:r>
          </a:p>
          <a:p>
            <a:r>
              <a:rPr lang="en-US" dirty="0"/>
              <a:t>Audit: IAM Credential Reports &amp; IAM Last Accessed (formerly Access Advisor)</a:t>
            </a:r>
          </a:p>
        </p:txBody>
      </p:sp>
    </p:spTree>
    <p:extLst>
      <p:ext uri="{BB962C8B-B14F-4D97-AF65-F5344CB8AC3E}">
        <p14:creationId xmlns:p14="http://schemas.microsoft.com/office/powerpoint/2010/main" val="670671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AFC7F-8DDE-962B-BBB1-5DA733BA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Billing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63A0F-AA33-AB7B-A4C0-0EEAA8F6F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495033"/>
          </a:xfrm>
        </p:spPr>
        <p:txBody>
          <a:bodyPr/>
          <a:lstStyle/>
          <a:p>
            <a:r>
              <a:rPr lang="en-US" dirty="0"/>
              <a:t>Click top-right account dropdown while logged in as root user</a:t>
            </a:r>
          </a:p>
          <a:p>
            <a:r>
              <a:rPr lang="en-US" dirty="0"/>
              <a:t>Scroll down to find the following option</a:t>
            </a:r>
          </a:p>
          <a:p>
            <a:r>
              <a:rPr lang="en-US" dirty="0"/>
              <a:t>Click edit to make the change: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9CF38C-C737-E262-885D-F047BC8FD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168" y="3675529"/>
            <a:ext cx="4534533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58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3D8E9-166C-8E08-92AB-762DC426A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BB15B-7325-0EDA-4FA9-ACA359FBA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892" y="1880755"/>
            <a:ext cx="11029615" cy="128002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Click top-right account dropdown</a:t>
            </a:r>
          </a:p>
          <a:p>
            <a:r>
              <a:rPr lang="en-US" dirty="0"/>
              <a:t>Select Billing &amp; Cost Management</a:t>
            </a:r>
          </a:p>
          <a:p>
            <a:r>
              <a:rPr lang="en-US" dirty="0"/>
              <a:t>Select Budgets from left-hand pane</a:t>
            </a:r>
          </a:p>
          <a:p>
            <a:r>
              <a:rPr lang="en-US" dirty="0"/>
              <a:t>Click ‘Create Budget’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8CAC12-65FE-69CF-495E-D4FC497A3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259" y="3160779"/>
            <a:ext cx="6383482" cy="319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5214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6AA0B-84FC-D49A-F5C0-05EC70F8C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64B6F-107A-7FC5-4E79-E276A397A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EC2 is one of the most popular of AWS’ offerings</a:t>
            </a:r>
          </a:p>
          <a:p>
            <a:r>
              <a:rPr lang="en-US" dirty="0"/>
              <a:t>EC2 = elastic compute cloud (Infrastructure as a service)</a:t>
            </a:r>
          </a:p>
          <a:p>
            <a:r>
              <a:rPr lang="en-US" dirty="0"/>
              <a:t>EC2 capabilities (and supporting services):</a:t>
            </a:r>
          </a:p>
          <a:p>
            <a:pPr lvl="1"/>
            <a:r>
              <a:rPr lang="en-US" dirty="0"/>
              <a:t>Run virtual machines (EC2)</a:t>
            </a:r>
          </a:p>
          <a:p>
            <a:pPr lvl="1"/>
            <a:r>
              <a:rPr lang="en-US" dirty="0"/>
              <a:t>Store data on virtual drives (EBS – elastic block store)</a:t>
            </a:r>
          </a:p>
          <a:p>
            <a:pPr lvl="1"/>
            <a:r>
              <a:rPr lang="en-US" dirty="0"/>
              <a:t>Distribute load across machines (ELB – elastic load balancer)</a:t>
            </a:r>
          </a:p>
          <a:p>
            <a:pPr lvl="1"/>
            <a:r>
              <a:rPr lang="en-US" dirty="0"/>
              <a:t>Scale services (ASG – auto-scaling group)</a:t>
            </a:r>
          </a:p>
          <a:p>
            <a:pPr lvl="1"/>
            <a:endParaRPr lang="en-US" dirty="0"/>
          </a:p>
          <a:p>
            <a:r>
              <a:rPr lang="en-US" dirty="0"/>
              <a:t>Knowing EC2 is fundamental to understand how the cloud works</a:t>
            </a:r>
          </a:p>
        </p:txBody>
      </p:sp>
    </p:spTree>
    <p:extLst>
      <p:ext uri="{BB962C8B-B14F-4D97-AF65-F5344CB8AC3E}">
        <p14:creationId xmlns:p14="http://schemas.microsoft.com/office/powerpoint/2010/main" val="40213332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ADF0D-49CE-7A01-FA68-ABBB27345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EC2 sizing &amp; Configuration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F2CFA-34EE-5C9E-0BC2-8F31081CA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OS: Linux, Windows, or MacOS</a:t>
            </a:r>
          </a:p>
          <a:p>
            <a:r>
              <a:rPr lang="en-US" dirty="0"/>
              <a:t>CPU, RAM</a:t>
            </a:r>
          </a:p>
          <a:p>
            <a:r>
              <a:rPr lang="en-US" dirty="0"/>
              <a:t>Storage:</a:t>
            </a:r>
          </a:p>
          <a:p>
            <a:pPr lvl="1"/>
            <a:r>
              <a:rPr lang="en-US" dirty="0"/>
              <a:t>Network-attached (EBS &amp; EFS)</a:t>
            </a:r>
          </a:p>
          <a:p>
            <a:pPr lvl="1"/>
            <a:r>
              <a:rPr lang="en-US" dirty="0"/>
              <a:t>Hardware (EC2 Instance Store)</a:t>
            </a:r>
          </a:p>
          <a:p>
            <a:r>
              <a:rPr lang="en-US" dirty="0"/>
              <a:t>Network card: speed of the card &amp; public IP address</a:t>
            </a:r>
          </a:p>
          <a:p>
            <a:r>
              <a:rPr lang="en-US" dirty="0"/>
              <a:t>Firewall Rules: security group</a:t>
            </a:r>
          </a:p>
          <a:p>
            <a:r>
              <a:rPr lang="en-US" dirty="0"/>
              <a:t>Bootstrap script (configure at first launch): EC2 User Data</a:t>
            </a:r>
          </a:p>
        </p:txBody>
      </p:sp>
    </p:spTree>
    <p:extLst>
      <p:ext uri="{BB962C8B-B14F-4D97-AF65-F5344CB8AC3E}">
        <p14:creationId xmlns:p14="http://schemas.microsoft.com/office/powerpoint/2010/main" val="29080950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558AA-EED9-1775-D05D-BB98DCD3B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EC2 User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ADC58-9394-E430-0628-FECE8F652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possible to bootstrap our instances using an EC2 User Data script</a:t>
            </a:r>
          </a:p>
          <a:p>
            <a:r>
              <a:rPr lang="en-US" dirty="0"/>
              <a:t>Bootstrapping means launching commands when a machine starts</a:t>
            </a:r>
          </a:p>
          <a:p>
            <a:r>
              <a:rPr lang="en-US" dirty="0"/>
              <a:t>That script is run only once when the instance firsts starts</a:t>
            </a:r>
          </a:p>
          <a:p>
            <a:r>
              <a:rPr lang="en-US" dirty="0"/>
              <a:t>EC2 user data is used to automate tasks such as:</a:t>
            </a:r>
          </a:p>
          <a:p>
            <a:pPr lvl="1"/>
            <a:r>
              <a:rPr lang="en-US" dirty="0"/>
              <a:t>Installing updates</a:t>
            </a:r>
          </a:p>
          <a:p>
            <a:pPr lvl="1"/>
            <a:r>
              <a:rPr lang="en-US" dirty="0"/>
              <a:t>Installing software</a:t>
            </a:r>
          </a:p>
          <a:p>
            <a:pPr lvl="1"/>
            <a:r>
              <a:rPr lang="en-US" dirty="0"/>
              <a:t>Downloading common files from the internet</a:t>
            </a:r>
          </a:p>
          <a:p>
            <a:pPr lvl="1"/>
            <a:r>
              <a:rPr lang="en-US" dirty="0"/>
              <a:t>Anything you can think of</a:t>
            </a:r>
          </a:p>
          <a:p>
            <a:r>
              <a:rPr lang="en-US" dirty="0"/>
              <a:t>The EC2 User Data Script runs with the Root User</a:t>
            </a:r>
          </a:p>
        </p:txBody>
      </p:sp>
    </p:spTree>
    <p:extLst>
      <p:ext uri="{BB962C8B-B14F-4D97-AF65-F5344CB8AC3E}">
        <p14:creationId xmlns:p14="http://schemas.microsoft.com/office/powerpoint/2010/main" val="20402661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7859F-6C72-05A7-B12D-155D6482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 EC2 Instance running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6813E-78A0-1DD4-0312-5317BF3D7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53071"/>
            <a:ext cx="11029615" cy="77052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EC2 &gt; Instances &gt; Launch Instance</a:t>
            </a:r>
          </a:p>
          <a:p>
            <a:r>
              <a:rPr lang="en-US" dirty="0"/>
              <a:t>Provide a name, choose the image, set instance type, create a key pair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62702-E4D4-A6F7-22D2-C73D0984A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3125268"/>
            <a:ext cx="1714739" cy="933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F67586-7EDD-4E73-CD12-C02381632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966" y="3289828"/>
            <a:ext cx="2457793" cy="2772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62D22A-8C53-3B61-4EFB-2893B7805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801" y="3095892"/>
            <a:ext cx="2600688" cy="13432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B47191-E7DE-D6E3-8162-D1E8E69B52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1669" y="2853702"/>
            <a:ext cx="2600689" cy="341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886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16FB8-91D6-8C45-80C4-35EDE5A3B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 EC2 Instance running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98809-A0FE-5FDB-0B04-EB4CC5B7B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930257"/>
          </a:xfrm>
        </p:spPr>
        <p:txBody>
          <a:bodyPr/>
          <a:lstStyle/>
          <a:p>
            <a:r>
              <a:rPr lang="en-US" dirty="0"/>
              <a:t>Set network settings</a:t>
            </a:r>
          </a:p>
          <a:p>
            <a:r>
              <a:rPr lang="en-US" dirty="0"/>
              <a:t>Setup volume storage (note that the advanced mode shows ‘Delete on termination’)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190254-1A62-8C87-2205-CB04F160F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3429000"/>
            <a:ext cx="4280789" cy="29959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A2B426-2D05-D852-2DB6-BDCB558AE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093" y="3598640"/>
            <a:ext cx="5932820" cy="265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694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924E2-4F29-F16C-93B0-EF36CE62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 EC2 Instance running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95D5A-FB48-3652-69D8-6BDADAA64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1723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can set our user data script in the advanced details section</a:t>
            </a:r>
          </a:p>
          <a:p>
            <a:r>
              <a:rPr lang="en-US" dirty="0"/>
              <a:t>This script will update our image, install the httpd web server, start the server, and serve up a simple html page</a:t>
            </a:r>
          </a:p>
          <a:p>
            <a:r>
              <a:rPr lang="en-US" dirty="0"/>
              <a:t>Click Launch Instance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A8FF2E-954A-CDF1-07ED-A8BCD351E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074" y="3755209"/>
            <a:ext cx="5553850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33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96DB9-115F-B196-E5C7-F546B21C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Our live 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C4A39-6E93-2BE6-3D2D-4AF11D528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876469"/>
          </a:xfrm>
        </p:spPr>
        <p:txBody>
          <a:bodyPr/>
          <a:lstStyle/>
          <a:p>
            <a:r>
              <a:rPr lang="en-US" dirty="0"/>
              <a:t>We can use our public IPv4 address to access it</a:t>
            </a:r>
          </a:p>
          <a:p>
            <a:r>
              <a:rPr lang="en-US" dirty="0">
                <a:hlinkClick r:id="rId2"/>
              </a:rPr>
              <a:t>http://[IPv4</a:t>
            </a:r>
            <a:r>
              <a:rPr lang="en-US" dirty="0"/>
              <a:t> address here]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D25805-FB78-7071-6FAE-7A8FE258B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41" y="5088831"/>
            <a:ext cx="8230749" cy="1524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E8FC8C-F26A-3957-33A1-AFFF403D1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361" y="3269972"/>
            <a:ext cx="10345271" cy="16058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D9047E-8598-3DC2-B34C-48C417A193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0320" y="4611274"/>
            <a:ext cx="3421680" cy="200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6090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Demo – How to Excel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Complete a hands-on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relay technical concepts to you. Clients often need to do the same. Take a few moments to get some pen and paper ready to take notes.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4768</TotalTime>
  <Words>2590</Words>
  <Application>Microsoft Office PowerPoint</Application>
  <PresentationFormat>Widescreen</PresentationFormat>
  <Paragraphs>303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Amazon Ember</vt:lpstr>
      <vt:lpstr>Gill Sans MT</vt:lpstr>
      <vt:lpstr>Wingdings</vt:lpstr>
      <vt:lpstr>Wingdings 2</vt:lpstr>
      <vt:lpstr>Dividend</vt:lpstr>
      <vt:lpstr>AWS</vt:lpstr>
      <vt:lpstr>Resources &amp; Exam Basics</vt:lpstr>
      <vt:lpstr>Domain 1 – Design Secure Architectures</vt:lpstr>
      <vt:lpstr>Domain 2 – Design Resilient Architectures</vt:lpstr>
      <vt:lpstr>AWS Cloud Use Cases</vt:lpstr>
      <vt:lpstr>AWS Global Infrastructure</vt:lpstr>
      <vt:lpstr>Global vs Region Scoped services</vt:lpstr>
      <vt:lpstr>IAM: Users &amp; Groups</vt:lpstr>
      <vt:lpstr>IAM: Permissions</vt:lpstr>
      <vt:lpstr>IAM: Create Users</vt:lpstr>
      <vt:lpstr>IAM: Create Users</vt:lpstr>
      <vt:lpstr>IAM: Account Alias</vt:lpstr>
      <vt:lpstr>Multi-Session Support</vt:lpstr>
      <vt:lpstr>IAM Policies Inheritance</vt:lpstr>
      <vt:lpstr>IAM Policies Structure</vt:lpstr>
      <vt:lpstr>IAM: Permission Policy Examples</vt:lpstr>
      <vt:lpstr>IAM: Create Policies</vt:lpstr>
      <vt:lpstr>IAM: Password Policy</vt:lpstr>
      <vt:lpstr>IAM: MFA</vt:lpstr>
      <vt:lpstr>Various ways to access AWS</vt:lpstr>
      <vt:lpstr>What is the AWS CLI?</vt:lpstr>
      <vt:lpstr>What is the AWS SDK?</vt:lpstr>
      <vt:lpstr>Create Access Keys</vt:lpstr>
      <vt:lpstr>Setup AWS CLI</vt:lpstr>
      <vt:lpstr>IAM Roles</vt:lpstr>
      <vt:lpstr>Creating Roles</vt:lpstr>
      <vt:lpstr>IAM Security Tools</vt:lpstr>
      <vt:lpstr>IAM Security Tools</vt:lpstr>
      <vt:lpstr>IAM Guidelines &amp; Best Practices</vt:lpstr>
      <vt:lpstr>IAM Summary</vt:lpstr>
      <vt:lpstr>IAM Billing Access</vt:lpstr>
      <vt:lpstr>Budgets</vt:lpstr>
      <vt:lpstr>EC2</vt:lpstr>
      <vt:lpstr>EC2 sizing &amp; Configuration Options</vt:lpstr>
      <vt:lpstr>EC2 User Data</vt:lpstr>
      <vt:lpstr>Launch EC2 Instance running Linux</vt:lpstr>
      <vt:lpstr>Launch EC2 Instance running Linux</vt:lpstr>
      <vt:lpstr>Launch EC2 Instance running Linux</vt:lpstr>
      <vt:lpstr>Access Our live site</vt:lpstr>
      <vt:lpstr>Challenge Demo – How to Excel in this course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591</cp:revision>
  <dcterms:created xsi:type="dcterms:W3CDTF">2025-02-12T19:53:45Z</dcterms:created>
  <dcterms:modified xsi:type="dcterms:W3CDTF">2026-03-12T19:54:50Z</dcterms:modified>
</cp:coreProperties>
</file>